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8b59a3ef6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8b59a3ef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8b59a3ef68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28b59a3ef68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8b59a3ef68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8b59a3ef68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8b59a3ef68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8b59a3ef68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8b59a3ef68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8b59a3ef68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0"/>
            <a:ext cx="2351649" cy="2335971"/>
          </a:xfrm>
          <a:prstGeom prst="rect">
            <a:avLst/>
          </a:prstGeom>
          <a:noFill/>
          <a:ln>
            <a:noFill/>
          </a:ln>
        </p:spPr>
      </p:pic>
      <p:sp>
        <p:nvSpPr>
          <p:cNvPr id="55" name="Google Shape;55;p13"/>
          <p:cNvSpPr txBox="1"/>
          <p:nvPr/>
        </p:nvSpPr>
        <p:spPr>
          <a:xfrm>
            <a:off x="2231350" y="283275"/>
            <a:ext cx="6912600" cy="985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1200"/>
              </a:spcAft>
              <a:buNone/>
            </a:pPr>
            <a:r>
              <a:rPr b="1" lang="en" sz="2600">
                <a:solidFill>
                  <a:schemeClr val="dk1"/>
                </a:solidFill>
                <a:latin typeface="Times New Roman"/>
                <a:ea typeface="Times New Roman"/>
                <a:cs typeface="Times New Roman"/>
                <a:sym typeface="Times New Roman"/>
              </a:rPr>
              <a:t>ANNA UNIVERSITY REGIONAL CAMPUS , COIMBATORE - 641 014</a:t>
            </a:r>
            <a:endParaRPr b="1" sz="2600">
              <a:solidFill>
                <a:schemeClr val="dk1"/>
              </a:solidFill>
              <a:latin typeface="Times New Roman"/>
              <a:ea typeface="Times New Roman"/>
              <a:cs typeface="Times New Roman"/>
              <a:sym typeface="Times New Roman"/>
            </a:endParaRPr>
          </a:p>
        </p:txBody>
      </p:sp>
      <p:sp>
        <p:nvSpPr>
          <p:cNvPr id="56" name="Google Shape;56;p13"/>
          <p:cNvSpPr txBox="1"/>
          <p:nvPr/>
        </p:nvSpPr>
        <p:spPr>
          <a:xfrm>
            <a:off x="2312200" y="1112775"/>
            <a:ext cx="6750900" cy="1185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rgbClr val="EC1212"/>
                </a:solidFill>
                <a:latin typeface="Times New Roman"/>
                <a:ea typeface="Times New Roman"/>
                <a:cs typeface="Times New Roman"/>
                <a:sym typeface="Times New Roman"/>
              </a:rPr>
              <a:t>DEPARTMENT OF ELECTRONICS AND COMMUNICATION ENGINEERING </a:t>
            </a:r>
            <a:endParaRPr b="1" sz="1800">
              <a:solidFill>
                <a:srgbClr val="EC1212"/>
              </a:solidFill>
              <a:latin typeface="Times New Roman"/>
              <a:ea typeface="Times New Roman"/>
              <a:cs typeface="Times New Roman"/>
              <a:sym typeface="Times New Roman"/>
            </a:endParaRPr>
          </a:p>
          <a:p>
            <a:pPr indent="0" lvl="0" marL="0" rtl="0" algn="ctr">
              <a:spcBef>
                <a:spcPts val="1200"/>
              </a:spcBef>
              <a:spcAft>
                <a:spcPts val="1200"/>
              </a:spcAft>
              <a:buNone/>
            </a:pPr>
            <a:r>
              <a:rPr b="1" lang="en" sz="1900">
                <a:solidFill>
                  <a:srgbClr val="000AEF"/>
                </a:solidFill>
                <a:latin typeface="Times New Roman"/>
                <a:ea typeface="Times New Roman"/>
                <a:cs typeface="Times New Roman"/>
                <a:sym typeface="Times New Roman"/>
              </a:rPr>
              <a:t>ACADEMIC YEAR 2023-2024 (SEMESTER 5)</a:t>
            </a:r>
            <a:endParaRPr b="1" sz="1800">
              <a:latin typeface="Times New Roman"/>
              <a:ea typeface="Times New Roman"/>
              <a:cs typeface="Times New Roman"/>
              <a:sym typeface="Times New Roman"/>
            </a:endParaRPr>
          </a:p>
        </p:txBody>
      </p:sp>
      <p:sp>
        <p:nvSpPr>
          <p:cNvPr id="57" name="Google Shape;57;p13"/>
          <p:cNvSpPr txBox="1"/>
          <p:nvPr/>
        </p:nvSpPr>
        <p:spPr>
          <a:xfrm>
            <a:off x="6010475" y="3699275"/>
            <a:ext cx="2812500" cy="12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121212"/>
                </a:solidFill>
                <a:latin typeface="Times New Roman"/>
                <a:ea typeface="Times New Roman"/>
                <a:cs typeface="Times New Roman"/>
                <a:sym typeface="Times New Roman"/>
              </a:rPr>
              <a:t>PRESENTED BY</a:t>
            </a:r>
            <a:endParaRPr b="1" sz="1700">
              <a:solidFill>
                <a:srgbClr val="121212"/>
              </a:solidFill>
              <a:latin typeface="Times New Roman"/>
              <a:ea typeface="Times New Roman"/>
              <a:cs typeface="Times New Roman"/>
              <a:sym typeface="Times New Roman"/>
            </a:endParaRPr>
          </a:p>
          <a:p>
            <a:pPr indent="0" lvl="0" marL="0" rtl="0" algn="l">
              <a:spcBef>
                <a:spcPts val="0"/>
              </a:spcBef>
              <a:spcAft>
                <a:spcPts val="0"/>
              </a:spcAft>
              <a:buNone/>
            </a:pPr>
            <a:r>
              <a:rPr b="1" lang="en" sz="2400">
                <a:solidFill>
                  <a:srgbClr val="EC1212"/>
                </a:solidFill>
                <a:latin typeface="Times New Roman"/>
                <a:ea typeface="Times New Roman"/>
                <a:cs typeface="Times New Roman"/>
                <a:sym typeface="Times New Roman"/>
              </a:rPr>
              <a:t>RADHA DEVI M S</a:t>
            </a:r>
            <a:endParaRPr b="1" sz="2400">
              <a:solidFill>
                <a:srgbClr val="EC1212"/>
              </a:solidFill>
              <a:latin typeface="Times New Roman"/>
              <a:ea typeface="Times New Roman"/>
              <a:cs typeface="Times New Roman"/>
              <a:sym typeface="Times New Roman"/>
            </a:endParaRPr>
          </a:p>
          <a:p>
            <a:pPr indent="0" lvl="0" marL="0" rtl="0" algn="l">
              <a:spcBef>
                <a:spcPts val="0"/>
              </a:spcBef>
              <a:spcAft>
                <a:spcPts val="0"/>
              </a:spcAft>
              <a:buNone/>
            </a:pPr>
            <a:r>
              <a:rPr b="1" lang="en" sz="2400">
                <a:solidFill>
                  <a:srgbClr val="EC1212"/>
                </a:solidFill>
                <a:latin typeface="Times New Roman"/>
                <a:ea typeface="Times New Roman"/>
                <a:cs typeface="Times New Roman"/>
                <a:sym typeface="Times New Roman"/>
              </a:rPr>
              <a:t>710021106320</a:t>
            </a:r>
            <a:endParaRPr b="1" sz="2400">
              <a:solidFill>
                <a:srgbClr val="EC1212"/>
              </a:solidFill>
              <a:latin typeface="Times New Roman"/>
              <a:ea typeface="Times New Roman"/>
              <a:cs typeface="Times New Roman"/>
              <a:sym typeface="Times New Roman"/>
            </a:endParaRPr>
          </a:p>
        </p:txBody>
      </p:sp>
      <p:sp>
        <p:nvSpPr>
          <p:cNvPr id="58" name="Google Shape;58;p13"/>
          <p:cNvSpPr txBox="1"/>
          <p:nvPr/>
        </p:nvSpPr>
        <p:spPr>
          <a:xfrm>
            <a:off x="116700" y="2452150"/>
            <a:ext cx="8910600" cy="892800"/>
          </a:xfrm>
          <a:prstGeom prst="rect">
            <a:avLst/>
          </a:prstGeom>
          <a:noFill/>
          <a:ln>
            <a:noFill/>
          </a:ln>
        </p:spPr>
        <p:txBody>
          <a:bodyPr anchorCtr="0" anchor="t" bIns="91425" lIns="91425" spcFirstLastPara="1" rIns="91425" wrap="square" tIns="91425">
            <a:spAutoFit/>
          </a:bodyPr>
          <a:lstStyle/>
          <a:p>
            <a:pPr indent="0" lvl="0" marL="457200" rtl="0" algn="ctr">
              <a:spcBef>
                <a:spcPts val="0"/>
              </a:spcBef>
              <a:spcAft>
                <a:spcPts val="0"/>
              </a:spcAft>
              <a:buNone/>
            </a:pPr>
            <a:r>
              <a:rPr b="1" lang="en" sz="1800">
                <a:latin typeface="Times New Roman"/>
                <a:ea typeface="Times New Roman"/>
                <a:cs typeface="Times New Roman"/>
                <a:sym typeface="Times New Roman"/>
              </a:rPr>
              <a:t>IBM NAAN MUDHALVAN ARTIFICIAL INTELLIGENCE</a:t>
            </a:r>
            <a:endParaRPr b="1" sz="1800">
              <a:latin typeface="Times New Roman"/>
              <a:ea typeface="Times New Roman"/>
              <a:cs typeface="Times New Roman"/>
              <a:sym typeface="Times New Roman"/>
            </a:endParaRPr>
          </a:p>
          <a:p>
            <a:pPr indent="0" lvl="0" marL="457200" rtl="0" algn="ctr">
              <a:spcBef>
                <a:spcPts val="1200"/>
              </a:spcBef>
              <a:spcAft>
                <a:spcPts val="1200"/>
              </a:spcAft>
              <a:buNone/>
            </a:pPr>
            <a:r>
              <a:rPr b="1" lang="en" sz="1800">
                <a:solidFill>
                  <a:srgbClr val="EC1212"/>
                </a:solidFill>
                <a:latin typeface="Times New Roman"/>
                <a:ea typeface="Times New Roman"/>
                <a:cs typeface="Times New Roman"/>
                <a:sym typeface="Times New Roman"/>
              </a:rPr>
              <a:t>PROJECT 3: CREATE A CHATBOT IN </a:t>
            </a:r>
            <a:r>
              <a:rPr b="1" lang="en" sz="1800">
                <a:solidFill>
                  <a:srgbClr val="EC1212"/>
                </a:solidFill>
                <a:latin typeface="Times New Roman"/>
                <a:ea typeface="Times New Roman"/>
                <a:cs typeface="Times New Roman"/>
                <a:sym typeface="Times New Roman"/>
              </a:rPr>
              <a:t>PYTHON</a:t>
            </a:r>
            <a:r>
              <a:rPr b="1" lang="en" sz="1800">
                <a:solidFill>
                  <a:srgbClr val="EC1212"/>
                </a:solidFill>
                <a:latin typeface="Times New Roman"/>
                <a:ea typeface="Times New Roman"/>
                <a:cs typeface="Times New Roman"/>
                <a:sym typeface="Times New Roman"/>
              </a:rPr>
              <a:t> </a:t>
            </a:r>
            <a:endParaRPr b="1" sz="1800">
              <a:solidFill>
                <a:srgbClr val="000AEF"/>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nvSpPr>
        <p:spPr>
          <a:xfrm>
            <a:off x="619925" y="521100"/>
            <a:ext cx="7850100" cy="40458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lang="en" sz="2300">
                <a:solidFill>
                  <a:srgbClr val="EC1212"/>
                </a:solidFill>
                <a:latin typeface="Times New Roman"/>
                <a:ea typeface="Times New Roman"/>
                <a:cs typeface="Times New Roman"/>
                <a:sym typeface="Times New Roman"/>
              </a:rPr>
              <a:t>Table of Contents:</a:t>
            </a:r>
            <a:endParaRPr sz="2300">
              <a:solidFill>
                <a:srgbClr val="EC1212"/>
              </a:solidFill>
              <a:latin typeface="Times New Roman"/>
              <a:ea typeface="Times New Roman"/>
              <a:cs typeface="Times New Roman"/>
              <a:sym typeface="Times New Roman"/>
            </a:endParaRPr>
          </a:p>
          <a:p>
            <a:pPr indent="0" lvl="0" marL="914400" marR="0" rtl="0" algn="just">
              <a:lnSpc>
                <a:spcPct val="115000"/>
              </a:lnSpc>
              <a:spcBef>
                <a:spcPts val="0"/>
              </a:spcBef>
              <a:spcAft>
                <a:spcPts val="0"/>
              </a:spcAft>
              <a:buNone/>
            </a:pPr>
            <a:r>
              <a:rPr lang="en" sz="2200">
                <a:solidFill>
                  <a:schemeClr val="dk1"/>
                </a:solidFill>
                <a:latin typeface="Times New Roman"/>
                <a:ea typeface="Times New Roman"/>
                <a:cs typeface="Times New Roman"/>
                <a:sym typeface="Times New Roman"/>
              </a:rPr>
              <a:t>1. Introduction to Diabetes</a:t>
            </a:r>
            <a:endParaRPr sz="2200">
              <a:solidFill>
                <a:schemeClr val="dk1"/>
              </a:solidFill>
              <a:latin typeface="Times New Roman"/>
              <a:ea typeface="Times New Roman"/>
              <a:cs typeface="Times New Roman"/>
              <a:sym typeface="Times New Roman"/>
            </a:endParaRPr>
          </a:p>
          <a:p>
            <a:pPr indent="0" lvl="0" marL="914400" marR="0" rtl="0" algn="just">
              <a:lnSpc>
                <a:spcPct val="115000"/>
              </a:lnSpc>
              <a:spcBef>
                <a:spcPts val="0"/>
              </a:spcBef>
              <a:spcAft>
                <a:spcPts val="0"/>
              </a:spcAft>
              <a:buNone/>
            </a:pPr>
            <a:r>
              <a:rPr lang="en" sz="2200">
                <a:solidFill>
                  <a:schemeClr val="dk1"/>
                </a:solidFill>
                <a:latin typeface="Times New Roman"/>
                <a:ea typeface="Times New Roman"/>
                <a:cs typeface="Times New Roman"/>
                <a:sym typeface="Times New Roman"/>
              </a:rPr>
              <a:t>2. Managing Blood Sugar Levels</a:t>
            </a:r>
            <a:endParaRPr sz="2200">
              <a:solidFill>
                <a:schemeClr val="dk1"/>
              </a:solidFill>
              <a:latin typeface="Times New Roman"/>
              <a:ea typeface="Times New Roman"/>
              <a:cs typeface="Times New Roman"/>
              <a:sym typeface="Times New Roman"/>
            </a:endParaRPr>
          </a:p>
          <a:p>
            <a:pPr indent="0" lvl="0" marL="914400" marR="0" rtl="0" algn="just">
              <a:lnSpc>
                <a:spcPct val="115000"/>
              </a:lnSpc>
              <a:spcBef>
                <a:spcPts val="0"/>
              </a:spcBef>
              <a:spcAft>
                <a:spcPts val="0"/>
              </a:spcAft>
              <a:buNone/>
            </a:pPr>
            <a:r>
              <a:rPr lang="en" sz="2200">
                <a:solidFill>
                  <a:schemeClr val="dk1"/>
                </a:solidFill>
                <a:latin typeface="Times New Roman"/>
                <a:ea typeface="Times New Roman"/>
                <a:cs typeface="Times New Roman"/>
                <a:sym typeface="Times New Roman"/>
              </a:rPr>
              <a:t>3. Healthy Eating</a:t>
            </a:r>
            <a:endParaRPr sz="2200">
              <a:solidFill>
                <a:schemeClr val="dk1"/>
              </a:solidFill>
              <a:latin typeface="Times New Roman"/>
              <a:ea typeface="Times New Roman"/>
              <a:cs typeface="Times New Roman"/>
              <a:sym typeface="Times New Roman"/>
            </a:endParaRPr>
          </a:p>
          <a:p>
            <a:pPr indent="0" lvl="0" marL="914400" marR="0" rtl="0" algn="just">
              <a:lnSpc>
                <a:spcPct val="115000"/>
              </a:lnSpc>
              <a:spcBef>
                <a:spcPts val="0"/>
              </a:spcBef>
              <a:spcAft>
                <a:spcPts val="0"/>
              </a:spcAft>
              <a:buNone/>
            </a:pPr>
            <a:r>
              <a:rPr lang="en" sz="2200">
                <a:solidFill>
                  <a:schemeClr val="dk1"/>
                </a:solidFill>
                <a:latin typeface="Times New Roman"/>
                <a:ea typeface="Times New Roman"/>
                <a:cs typeface="Times New Roman"/>
                <a:sym typeface="Times New Roman"/>
              </a:rPr>
              <a:t>4. Physical Activity</a:t>
            </a:r>
            <a:endParaRPr sz="2200">
              <a:solidFill>
                <a:schemeClr val="dk1"/>
              </a:solidFill>
              <a:latin typeface="Times New Roman"/>
              <a:ea typeface="Times New Roman"/>
              <a:cs typeface="Times New Roman"/>
              <a:sym typeface="Times New Roman"/>
            </a:endParaRPr>
          </a:p>
          <a:p>
            <a:pPr indent="0" lvl="0" marL="914400" marR="0" rtl="0" algn="just">
              <a:lnSpc>
                <a:spcPct val="115000"/>
              </a:lnSpc>
              <a:spcBef>
                <a:spcPts val="0"/>
              </a:spcBef>
              <a:spcAft>
                <a:spcPts val="0"/>
              </a:spcAft>
              <a:buNone/>
            </a:pPr>
            <a:r>
              <a:rPr lang="en" sz="2200">
                <a:solidFill>
                  <a:schemeClr val="dk1"/>
                </a:solidFill>
                <a:latin typeface="Times New Roman"/>
                <a:ea typeface="Times New Roman"/>
                <a:cs typeface="Times New Roman"/>
                <a:sym typeface="Times New Roman"/>
              </a:rPr>
              <a:t>5. Medications and Insulin</a:t>
            </a:r>
            <a:endParaRPr sz="2200">
              <a:solidFill>
                <a:schemeClr val="dk1"/>
              </a:solidFill>
              <a:latin typeface="Times New Roman"/>
              <a:ea typeface="Times New Roman"/>
              <a:cs typeface="Times New Roman"/>
              <a:sym typeface="Times New Roman"/>
            </a:endParaRPr>
          </a:p>
          <a:p>
            <a:pPr indent="0" lvl="0" marL="914400" marR="0" rtl="0" algn="just">
              <a:lnSpc>
                <a:spcPct val="115000"/>
              </a:lnSpc>
              <a:spcBef>
                <a:spcPts val="0"/>
              </a:spcBef>
              <a:spcAft>
                <a:spcPts val="0"/>
              </a:spcAft>
              <a:buNone/>
            </a:pPr>
            <a:r>
              <a:rPr lang="en" sz="2200">
                <a:solidFill>
                  <a:schemeClr val="dk1"/>
                </a:solidFill>
                <a:latin typeface="Times New Roman"/>
                <a:ea typeface="Times New Roman"/>
                <a:cs typeface="Times New Roman"/>
                <a:sym typeface="Times New Roman"/>
              </a:rPr>
              <a:t>6. Monitoring and Self-Care</a:t>
            </a:r>
            <a:endParaRPr sz="2200">
              <a:solidFill>
                <a:schemeClr val="dk1"/>
              </a:solidFill>
              <a:latin typeface="Times New Roman"/>
              <a:ea typeface="Times New Roman"/>
              <a:cs typeface="Times New Roman"/>
              <a:sym typeface="Times New Roman"/>
            </a:endParaRPr>
          </a:p>
          <a:p>
            <a:pPr indent="0" lvl="0" marL="914400" marR="0" rtl="0" algn="just">
              <a:lnSpc>
                <a:spcPct val="115000"/>
              </a:lnSpc>
              <a:spcBef>
                <a:spcPts val="0"/>
              </a:spcBef>
              <a:spcAft>
                <a:spcPts val="0"/>
              </a:spcAft>
              <a:buNone/>
            </a:pPr>
            <a:r>
              <a:rPr lang="en" sz="2200">
                <a:solidFill>
                  <a:schemeClr val="dk1"/>
                </a:solidFill>
                <a:latin typeface="Times New Roman"/>
                <a:ea typeface="Times New Roman"/>
                <a:cs typeface="Times New Roman"/>
                <a:sym typeface="Times New Roman"/>
              </a:rPr>
              <a:t>7. Preventing Complications</a:t>
            </a:r>
            <a:endParaRPr sz="2200">
              <a:solidFill>
                <a:schemeClr val="dk1"/>
              </a:solidFill>
              <a:latin typeface="Times New Roman"/>
              <a:ea typeface="Times New Roman"/>
              <a:cs typeface="Times New Roman"/>
              <a:sym typeface="Times New Roman"/>
            </a:endParaRPr>
          </a:p>
          <a:p>
            <a:pPr indent="0" lvl="0" marL="914400" marR="0" rtl="0" algn="just">
              <a:lnSpc>
                <a:spcPct val="115000"/>
              </a:lnSpc>
              <a:spcBef>
                <a:spcPts val="0"/>
              </a:spcBef>
              <a:spcAft>
                <a:spcPts val="0"/>
              </a:spcAft>
              <a:buNone/>
            </a:pPr>
            <a:r>
              <a:rPr lang="en" sz="2200">
                <a:solidFill>
                  <a:schemeClr val="dk1"/>
                </a:solidFill>
                <a:latin typeface="Times New Roman"/>
                <a:ea typeface="Times New Roman"/>
                <a:cs typeface="Times New Roman"/>
                <a:sym typeface="Times New Roman"/>
              </a:rPr>
              <a:t>8. Tips for Everyday Living</a:t>
            </a:r>
            <a:endParaRPr sz="2200">
              <a:solidFill>
                <a:schemeClr val="dk1"/>
              </a:solidFill>
              <a:latin typeface="Times New Roman"/>
              <a:ea typeface="Times New Roman"/>
              <a:cs typeface="Times New Roman"/>
              <a:sym typeface="Times New Roman"/>
            </a:endParaRPr>
          </a:p>
          <a:p>
            <a:pPr indent="0" lvl="0" marL="914400" marR="0" rtl="0" algn="just">
              <a:lnSpc>
                <a:spcPct val="115000"/>
              </a:lnSpc>
              <a:spcBef>
                <a:spcPts val="0"/>
              </a:spcBef>
              <a:spcAft>
                <a:spcPts val="0"/>
              </a:spcAft>
              <a:buNone/>
            </a:pPr>
            <a:r>
              <a:rPr lang="en" sz="2200">
                <a:solidFill>
                  <a:schemeClr val="dk1"/>
                </a:solidFill>
                <a:latin typeface="Times New Roman"/>
                <a:ea typeface="Times New Roman"/>
                <a:cs typeface="Times New Roman"/>
                <a:sym typeface="Times New Roman"/>
              </a:rPr>
              <a:t>9. Frequently Asked Questions (FAQs)</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nvSpPr>
        <p:spPr>
          <a:xfrm>
            <a:off x="395300" y="330175"/>
            <a:ext cx="8344200" cy="4433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2000">
                <a:solidFill>
                  <a:srgbClr val="EC1212"/>
                </a:solidFill>
                <a:latin typeface="Times New Roman"/>
                <a:ea typeface="Times New Roman"/>
                <a:cs typeface="Times New Roman"/>
                <a:sym typeface="Times New Roman"/>
              </a:rPr>
              <a:t>1. Introduction to Diabetes:</a:t>
            </a:r>
            <a:endParaRPr sz="1800">
              <a:solidFill>
                <a:schemeClr val="dk1"/>
              </a:solidFill>
              <a:latin typeface="Times New Roman"/>
              <a:ea typeface="Times New Roman"/>
              <a:cs typeface="Times New Roman"/>
              <a:sym typeface="Times New Roman"/>
            </a:endParaRPr>
          </a:p>
          <a:p>
            <a:pPr indent="457200" lvl="0" marL="0" rtl="0" algn="just">
              <a:spcBef>
                <a:spcPts val="0"/>
              </a:spcBef>
              <a:spcAft>
                <a:spcPts val="0"/>
              </a:spcAft>
              <a:buNone/>
            </a:pPr>
            <a:r>
              <a:rPr lang="en" sz="1800">
                <a:solidFill>
                  <a:schemeClr val="dk1"/>
                </a:solidFill>
                <a:latin typeface="Times New Roman"/>
                <a:ea typeface="Times New Roman"/>
                <a:cs typeface="Times New Roman"/>
                <a:sym typeface="Times New Roman"/>
              </a:rPr>
              <a:t>Diabetes is a chronic condition that affects how your body regulates blood sugar. There are different types of diabetes, including Type 1, Type 2, and gestational diabetes. Understanding the basics of diabetes is essential for managing your condition effectively.</a:t>
            </a:r>
            <a:endParaRPr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en" sz="2000">
                <a:solidFill>
                  <a:srgbClr val="EC1212"/>
                </a:solidFill>
                <a:latin typeface="Times New Roman"/>
                <a:ea typeface="Times New Roman"/>
                <a:cs typeface="Times New Roman"/>
                <a:sym typeface="Times New Roman"/>
              </a:rPr>
              <a:t>2. Managing Blood Sugar Levels:</a:t>
            </a:r>
            <a:endParaRPr sz="1800">
              <a:solidFill>
                <a:schemeClr val="dk1"/>
              </a:solidFill>
              <a:latin typeface="Times New Roman"/>
              <a:ea typeface="Times New Roman"/>
              <a:cs typeface="Times New Roman"/>
              <a:sym typeface="Times New Roman"/>
            </a:endParaRPr>
          </a:p>
          <a:p>
            <a:pPr indent="457200" lvl="0" marL="0" rtl="0" algn="just">
              <a:spcBef>
                <a:spcPts val="0"/>
              </a:spcBef>
              <a:spcAft>
                <a:spcPts val="0"/>
              </a:spcAft>
              <a:buNone/>
            </a:pPr>
            <a:r>
              <a:rPr lang="en" sz="1800">
                <a:solidFill>
                  <a:schemeClr val="dk1"/>
                </a:solidFill>
                <a:latin typeface="Times New Roman"/>
                <a:ea typeface="Times New Roman"/>
                <a:cs typeface="Times New Roman"/>
                <a:sym typeface="Times New Roman"/>
              </a:rPr>
              <a:t>Maintaining stable blood sugar levels is crucial for managing diabetes. Learn about the importance of monitoring blood sugar, target ranges, and how to interpret the results. I can also provide reminders for medication or insulin injections.</a:t>
            </a:r>
            <a:endParaRPr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en" sz="2000">
                <a:solidFill>
                  <a:srgbClr val="EC1212"/>
                </a:solidFill>
                <a:latin typeface="Times New Roman"/>
                <a:ea typeface="Times New Roman"/>
                <a:cs typeface="Times New Roman"/>
                <a:sym typeface="Times New Roman"/>
              </a:rPr>
              <a:t>3. Healthy Eating:</a:t>
            </a:r>
            <a:endParaRPr sz="2000">
              <a:solidFill>
                <a:srgbClr val="EC1212"/>
              </a:solidFill>
              <a:latin typeface="Times New Roman"/>
              <a:ea typeface="Times New Roman"/>
              <a:cs typeface="Times New Roman"/>
              <a:sym typeface="Times New Roman"/>
            </a:endParaRPr>
          </a:p>
          <a:p>
            <a:pPr indent="457200" lvl="0" marL="0" rtl="0" algn="just">
              <a:spcBef>
                <a:spcPts val="0"/>
              </a:spcBef>
              <a:spcAft>
                <a:spcPts val="0"/>
              </a:spcAft>
              <a:buNone/>
            </a:pPr>
            <a:r>
              <a:rPr lang="en" sz="1800">
                <a:solidFill>
                  <a:schemeClr val="dk1"/>
                </a:solidFill>
                <a:latin typeface="Times New Roman"/>
                <a:ea typeface="Times New Roman"/>
                <a:cs typeface="Times New Roman"/>
                <a:sym typeface="Times New Roman"/>
              </a:rPr>
              <a:t>Proper nutrition plays a vital role in managing diabetes. Discover the principles of a balanced diet, portion control, managing carbohydrates, and making healthier food choices. We can even develop personalized meal plans based on your preferences and dietary restrictions.</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nvSpPr>
        <p:spPr>
          <a:xfrm>
            <a:off x="361625" y="274025"/>
            <a:ext cx="8445300" cy="4710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2000">
                <a:solidFill>
                  <a:srgbClr val="EC1212"/>
                </a:solidFill>
                <a:latin typeface="Times New Roman"/>
                <a:ea typeface="Times New Roman"/>
                <a:cs typeface="Times New Roman"/>
                <a:sym typeface="Times New Roman"/>
              </a:rPr>
              <a:t>4. Physical Activity:</a:t>
            </a:r>
            <a:endParaRPr sz="2000">
              <a:solidFill>
                <a:srgbClr val="EC1212"/>
              </a:solidFill>
              <a:latin typeface="Times New Roman"/>
              <a:ea typeface="Times New Roman"/>
              <a:cs typeface="Times New Roman"/>
              <a:sym typeface="Times New Roman"/>
            </a:endParaRPr>
          </a:p>
          <a:p>
            <a:pPr indent="457200" lvl="0" marL="0" rtl="0" algn="just">
              <a:spcBef>
                <a:spcPts val="0"/>
              </a:spcBef>
              <a:spcAft>
                <a:spcPts val="0"/>
              </a:spcAft>
              <a:buNone/>
            </a:pPr>
            <a:r>
              <a:rPr lang="en" sz="1800">
                <a:solidFill>
                  <a:schemeClr val="dk1"/>
                </a:solidFill>
                <a:latin typeface="Times New Roman"/>
                <a:ea typeface="Times New Roman"/>
                <a:cs typeface="Times New Roman"/>
                <a:sym typeface="Times New Roman"/>
              </a:rPr>
              <a:t>Regular physical activity is beneficial for everyone, including those with diabetes. Discover the best exercises for managing diabetes, safety precautions, and tips for staying active. I can even provide reminders for exercise sessions.</a:t>
            </a:r>
            <a:endParaRPr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en" sz="2000">
                <a:solidFill>
                  <a:srgbClr val="EC1212"/>
                </a:solidFill>
                <a:latin typeface="Times New Roman"/>
                <a:ea typeface="Times New Roman"/>
                <a:cs typeface="Times New Roman"/>
                <a:sym typeface="Times New Roman"/>
              </a:rPr>
              <a:t>5. Medications and Insulin:</a:t>
            </a:r>
            <a:endParaRPr sz="2000">
              <a:solidFill>
                <a:srgbClr val="EC1212"/>
              </a:solidFill>
              <a:latin typeface="Times New Roman"/>
              <a:ea typeface="Times New Roman"/>
              <a:cs typeface="Times New Roman"/>
              <a:sym typeface="Times New Roman"/>
            </a:endParaRPr>
          </a:p>
          <a:p>
            <a:pPr indent="457200" lvl="0" marL="0" rtl="0" algn="just">
              <a:spcBef>
                <a:spcPts val="0"/>
              </a:spcBef>
              <a:spcAft>
                <a:spcPts val="0"/>
              </a:spcAft>
              <a:buNone/>
            </a:pPr>
            <a:r>
              <a:rPr lang="en" sz="1800">
                <a:solidFill>
                  <a:schemeClr val="dk1"/>
                </a:solidFill>
                <a:latin typeface="Times New Roman"/>
                <a:ea typeface="Times New Roman"/>
                <a:cs typeface="Times New Roman"/>
                <a:sym typeface="Times New Roman"/>
              </a:rPr>
              <a:t>Many individuals with diabetes require medications or insulin to manage their blood sugar levels. Understand the different types of diabetes medications, their uses, and potential side effects. Learn how to administer insulin and the importance of proper dosage.</a:t>
            </a:r>
            <a:endParaRPr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en" sz="2000">
                <a:solidFill>
                  <a:srgbClr val="EC1212"/>
                </a:solidFill>
                <a:latin typeface="Times New Roman"/>
                <a:ea typeface="Times New Roman"/>
                <a:cs typeface="Times New Roman"/>
                <a:sym typeface="Times New Roman"/>
              </a:rPr>
              <a:t>6. Monitoring and Self-Care:</a:t>
            </a:r>
            <a:endParaRPr sz="2000">
              <a:solidFill>
                <a:srgbClr val="EC1212"/>
              </a:solidFill>
              <a:latin typeface="Times New Roman"/>
              <a:ea typeface="Times New Roman"/>
              <a:cs typeface="Times New Roman"/>
              <a:sym typeface="Times New Roman"/>
            </a:endParaRPr>
          </a:p>
          <a:p>
            <a:pPr indent="457200" lvl="0" marL="0" rtl="0" algn="just">
              <a:spcBef>
                <a:spcPts val="0"/>
              </a:spcBef>
              <a:spcAft>
                <a:spcPts val="0"/>
              </a:spcAft>
              <a:buNone/>
            </a:pPr>
            <a:r>
              <a:rPr lang="en" sz="1800">
                <a:solidFill>
                  <a:schemeClr val="dk1"/>
                </a:solidFill>
                <a:latin typeface="Times New Roman"/>
                <a:ea typeface="Times New Roman"/>
                <a:cs typeface="Times New Roman"/>
                <a:sym typeface="Times New Roman"/>
              </a:rPr>
              <a:t>Diabetes requires regular monitoring and self-care to ensure good health. Get familiar with blood glucose monitoring, A1C tests, and the importance of regular check-ups with healthcare professionals. I can even help you set reminders for appointments.</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nvSpPr>
        <p:spPr>
          <a:xfrm>
            <a:off x="384075" y="420025"/>
            <a:ext cx="8422800" cy="4155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2000">
                <a:solidFill>
                  <a:srgbClr val="EC1212"/>
                </a:solidFill>
                <a:latin typeface="Times New Roman"/>
                <a:ea typeface="Times New Roman"/>
                <a:cs typeface="Times New Roman"/>
                <a:sym typeface="Times New Roman"/>
              </a:rPr>
              <a:t>7. Preventing Complications:</a:t>
            </a:r>
            <a:endParaRPr sz="2000">
              <a:solidFill>
                <a:srgbClr val="EC1212"/>
              </a:solidFill>
              <a:latin typeface="Times New Roman"/>
              <a:ea typeface="Times New Roman"/>
              <a:cs typeface="Times New Roman"/>
              <a:sym typeface="Times New Roman"/>
            </a:endParaRPr>
          </a:p>
          <a:p>
            <a:pPr indent="457200" lvl="0" marL="0" rtl="0" algn="just">
              <a:spcBef>
                <a:spcPts val="0"/>
              </a:spcBef>
              <a:spcAft>
                <a:spcPts val="0"/>
              </a:spcAft>
              <a:buNone/>
            </a:pPr>
            <a:r>
              <a:rPr lang="en" sz="1800">
                <a:solidFill>
                  <a:schemeClr val="dk1"/>
                </a:solidFill>
                <a:latin typeface="Times New Roman"/>
                <a:ea typeface="Times New Roman"/>
                <a:cs typeface="Times New Roman"/>
                <a:sym typeface="Times New Roman"/>
              </a:rPr>
              <a:t>Managing diabetes effectively can help prevent long-term complications. Learn about potential complications, such as diabetic neuropathy, retinopathy, and cardiovascular diseases. Explore strategies for reducing risk factors and tips for self-care.</a:t>
            </a:r>
            <a:endParaRPr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en" sz="2000">
                <a:solidFill>
                  <a:srgbClr val="EC1212"/>
                </a:solidFill>
                <a:latin typeface="Times New Roman"/>
                <a:ea typeface="Times New Roman"/>
                <a:cs typeface="Times New Roman"/>
                <a:sym typeface="Times New Roman"/>
              </a:rPr>
              <a:t>8. Tips for Everyday Living:</a:t>
            </a:r>
            <a:endParaRPr sz="2000">
              <a:solidFill>
                <a:srgbClr val="EC1212"/>
              </a:solidFill>
              <a:latin typeface="Times New Roman"/>
              <a:ea typeface="Times New Roman"/>
              <a:cs typeface="Times New Roman"/>
              <a:sym typeface="Times New Roman"/>
            </a:endParaRPr>
          </a:p>
          <a:p>
            <a:pPr indent="457200" lvl="0" marL="0" rtl="0" algn="just">
              <a:spcBef>
                <a:spcPts val="0"/>
              </a:spcBef>
              <a:spcAft>
                <a:spcPts val="0"/>
              </a:spcAft>
              <a:buNone/>
            </a:pPr>
            <a:r>
              <a:rPr lang="en" sz="1800">
                <a:solidFill>
                  <a:schemeClr val="dk1"/>
                </a:solidFill>
                <a:latin typeface="Times New Roman"/>
                <a:ea typeface="Times New Roman"/>
                <a:cs typeface="Times New Roman"/>
                <a:sym typeface="Times New Roman"/>
              </a:rPr>
              <a:t>Living with diabetes doesn't mean life has to be limited. Discover practical tips for managing diabetes during holidays, traveling, and social events. Learn how to navigate dining out, handle sick days, and manage stress effectively.</a:t>
            </a:r>
            <a:endParaRPr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en" sz="2000">
                <a:solidFill>
                  <a:srgbClr val="EC1212"/>
                </a:solidFill>
                <a:latin typeface="Times New Roman"/>
                <a:ea typeface="Times New Roman"/>
                <a:cs typeface="Times New Roman"/>
                <a:sym typeface="Times New Roman"/>
              </a:rPr>
              <a:t>9. Frequently Asked Questions (FAQs):</a:t>
            </a:r>
            <a:endParaRPr sz="2000">
              <a:solidFill>
                <a:srgbClr val="EC1212"/>
              </a:solidFill>
              <a:latin typeface="Times New Roman"/>
              <a:ea typeface="Times New Roman"/>
              <a:cs typeface="Times New Roman"/>
              <a:sym typeface="Times New Roman"/>
            </a:endParaRPr>
          </a:p>
          <a:p>
            <a:pPr indent="457200" lvl="0" marL="0" rtl="0" algn="just">
              <a:spcBef>
                <a:spcPts val="0"/>
              </a:spcBef>
              <a:spcAft>
                <a:spcPts val="0"/>
              </a:spcAft>
              <a:buNone/>
            </a:pPr>
            <a:r>
              <a:rPr lang="en" sz="1800">
                <a:solidFill>
                  <a:schemeClr val="dk1"/>
                </a:solidFill>
                <a:latin typeface="Times New Roman"/>
                <a:ea typeface="Times New Roman"/>
                <a:cs typeface="Times New Roman"/>
                <a:sym typeface="Times New Roman"/>
              </a:rPr>
              <a:t>Explore frequently asked questions about diabetes, including topics like diet soda, alcohol consumption, insulin resistance, and more. I can provide reliable answers and support your understanding of diabetes.</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